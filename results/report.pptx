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02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ngy1212/RL_project/tree/project_1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ngy1212/RL_project/tree/project_1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7016151"/>
          </a:xfrm>
          <a:prstGeom prst="rect">
            <a:avLst/>
          </a:prstGeom>
          <a:solidFill>
            <a:srgbClr val="1F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09342" y="2379041"/>
            <a:ext cx="677300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ple SD Gothic Neo"/>
              </a:defRPr>
            </a:pPr>
            <a:r>
              <a:rPr sz="3000" dirty="0" err="1"/>
              <a:t>서울시</a:t>
            </a:r>
            <a:r>
              <a:rPr sz="3000" dirty="0"/>
              <a:t> </a:t>
            </a:r>
            <a:r>
              <a:rPr sz="3000" dirty="0" err="1"/>
              <a:t>따릉이</a:t>
            </a:r>
            <a:r>
              <a:rPr sz="3000" dirty="0"/>
              <a:t> </a:t>
            </a:r>
            <a:r>
              <a:rPr sz="3000" dirty="0" err="1"/>
              <a:t>데이터</a:t>
            </a:r>
            <a:r>
              <a:rPr sz="3000" dirty="0"/>
              <a:t> </a:t>
            </a:r>
            <a:r>
              <a:rPr sz="3000" dirty="0" err="1"/>
              <a:t>기반</a:t>
            </a:r>
            <a:r>
              <a:rPr sz="3000" dirty="0"/>
              <a:t> </a:t>
            </a:r>
            <a:r>
              <a:rPr sz="3000" dirty="0" err="1"/>
              <a:t>공공자전거</a:t>
            </a:r>
            <a:r>
              <a:rPr sz="3000" dirty="0"/>
              <a:t> </a:t>
            </a:r>
            <a:endParaRPr lang="en-US" sz="3000" dirty="0"/>
          </a:p>
          <a:p>
            <a:pPr algn="ctr">
              <a:defRPr sz="2400" b="1">
                <a:solidFill>
                  <a:srgbClr val="FFFFFF"/>
                </a:solidFill>
                <a:latin typeface="Apple SD Gothic Neo"/>
              </a:defRPr>
            </a:pPr>
            <a:r>
              <a:rPr sz="3000" dirty="0" err="1"/>
              <a:t>재배치</a:t>
            </a:r>
            <a:r>
              <a:rPr sz="3000" dirty="0"/>
              <a:t> </a:t>
            </a:r>
            <a:r>
              <a:rPr sz="3000" dirty="0" err="1"/>
              <a:t>문제</a:t>
            </a:r>
            <a:r>
              <a:rPr lang="en-US" sz="3000" dirty="0"/>
              <a:t> </a:t>
            </a:r>
            <a:r>
              <a:rPr sz="3000" dirty="0" err="1"/>
              <a:t>강화학습</a:t>
            </a:r>
            <a:endParaRPr sz="3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99BF0-46D5-A471-A2C5-34238328104D}"/>
              </a:ext>
            </a:extLst>
          </p:cNvPr>
          <p:cNvSpPr txBox="1"/>
          <p:nvPr/>
        </p:nvSpPr>
        <p:spPr>
          <a:xfrm>
            <a:off x="3053751" y="5746017"/>
            <a:ext cx="104410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ple SD Gothic Neo"/>
              </a:defRPr>
            </a:pPr>
            <a:r>
              <a:rPr lang="en-US" sz="3000" dirty="0"/>
              <a:t>A74044 </a:t>
            </a:r>
            <a:r>
              <a:rPr lang="ko-KR" altLang="en-US" sz="3000" dirty="0"/>
              <a:t>윤지영</a:t>
            </a:r>
            <a:endParaRPr lang="en-US" altLang="ko-KR" sz="3000" dirty="0"/>
          </a:p>
          <a:p>
            <a:pPr algn="ctr">
              <a:defRPr sz="2400" b="1">
                <a:solidFill>
                  <a:srgbClr val="FFFFFF"/>
                </a:solidFill>
                <a:latin typeface="Apple SD Gothic Neo"/>
              </a:defRPr>
            </a:pPr>
            <a:r>
              <a:rPr lang="ko-KR" altLang="ko-KR" sz="2400" b="1" dirty="0">
                <a:hlinkClick r:id="rId2"/>
              </a:rPr>
              <a:t>GitHub - youngy1212/</a:t>
            </a:r>
            <a:r>
              <a:rPr lang="ko-KR" altLang="ko-KR" sz="2400" b="1" dirty="0" err="1">
                <a:hlinkClick r:id="rId2"/>
              </a:rPr>
              <a:t>RL_project</a:t>
            </a:r>
            <a:r>
              <a:rPr lang="ko-KR" altLang="ko-KR" sz="2400" b="1" dirty="0">
                <a:hlinkClick r:id="rId2"/>
              </a:rPr>
              <a:t> </a:t>
            </a:r>
            <a:r>
              <a:rPr lang="ko-KR" altLang="ko-KR" sz="2400" b="1" dirty="0" err="1">
                <a:hlinkClick r:id="rId2"/>
              </a:rPr>
              <a:t>at</a:t>
            </a:r>
            <a:r>
              <a:rPr lang="ko-KR" altLang="ko-KR" sz="2400" b="1" dirty="0">
                <a:hlinkClick r:id="rId2"/>
              </a:rPr>
              <a:t> project_1 · GitHub</a:t>
            </a:r>
            <a:endParaRPr lang="en-US" alt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1. 프로젝트 주제 및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972800" cy="391594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</a:t>
            </a:r>
            <a:r>
              <a:rPr lang="en-US" dirty="0"/>
              <a:t> </a:t>
            </a:r>
            <a:r>
              <a:rPr lang="ko-KR" altLang="en-US" dirty="0"/>
              <a:t>프로젝트 주제</a:t>
            </a:r>
            <a:r>
              <a:rPr lang="en-US" altLang="ko-KR" dirty="0"/>
              <a:t> : </a:t>
            </a:r>
            <a:r>
              <a:rPr lang="ko-KR" altLang="en-US" dirty="0"/>
              <a:t>시간대와 지역에 따라 특정 대여소에 자전거가 부족하거나</a:t>
            </a:r>
            <a:r>
              <a:rPr lang="en-US" altLang="ko-KR" dirty="0"/>
              <a:t>, </a:t>
            </a:r>
            <a:r>
              <a:rPr lang="ko-KR" altLang="en-US" dirty="0"/>
              <a:t>반대로 과도하게 몰리는 문제가 발생한다</a:t>
            </a:r>
            <a:r>
              <a:rPr lang="en-US" altLang="ko-KR" dirty="0"/>
              <a:t>. </a:t>
            </a:r>
            <a:r>
              <a:rPr lang="ko-KR" altLang="en-US" dirty="0"/>
              <a:t>본 프로젝트는 실제 </a:t>
            </a:r>
            <a:r>
              <a:rPr lang="ko-KR" altLang="en-US" dirty="0" err="1"/>
              <a:t>따릉이</a:t>
            </a:r>
            <a:r>
              <a:rPr lang="ko-KR" altLang="en-US" dirty="0"/>
              <a:t> 대여</a:t>
            </a:r>
            <a:r>
              <a:rPr lang="en-US" altLang="ko-KR" dirty="0"/>
              <a:t>, </a:t>
            </a:r>
            <a:r>
              <a:rPr lang="ko-KR" altLang="en-US" dirty="0"/>
              <a:t>반납 </a:t>
            </a:r>
            <a:r>
              <a:rPr lang="ko-KR" altLang="en-US" dirty="0" err="1"/>
              <a:t>데이털르</a:t>
            </a:r>
            <a:r>
              <a:rPr lang="ko-KR" altLang="en-US" dirty="0"/>
              <a:t> 바탕으로 대여소별 자전거 재고 변화를 시뮬레이션 하고</a:t>
            </a:r>
            <a:r>
              <a:rPr lang="en-US" altLang="ko-KR" dirty="0"/>
              <a:t>, </a:t>
            </a:r>
            <a:r>
              <a:rPr lang="ko-KR" altLang="en-US" dirty="0"/>
              <a:t>강화학습을 이용해 자전거 재배치 정책을 학습하는 것을 목표로 한다</a:t>
            </a:r>
            <a:r>
              <a:rPr lang="en-US" altLang="ko-KR" dirty="0"/>
              <a:t>.</a:t>
            </a:r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 err="1"/>
              <a:t>문제</a:t>
            </a:r>
            <a:r>
              <a:rPr dirty="0"/>
              <a:t>: </a:t>
            </a:r>
            <a:r>
              <a:rPr dirty="0" err="1"/>
              <a:t>시간대·지역에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대여소는</a:t>
            </a:r>
            <a:r>
              <a:rPr dirty="0"/>
              <a:t> </a:t>
            </a:r>
            <a:r>
              <a:rPr dirty="0" err="1"/>
              <a:t>자전거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,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대여소는</a:t>
            </a:r>
            <a:r>
              <a:rPr dirty="0"/>
              <a:t> </a:t>
            </a:r>
            <a:r>
              <a:rPr dirty="0" err="1"/>
              <a:t>과잉</a:t>
            </a:r>
            <a:r>
              <a:rPr dirty="0"/>
              <a:t> </a:t>
            </a:r>
            <a:r>
              <a:rPr dirty="0" err="1"/>
              <a:t>상태가</a:t>
            </a:r>
            <a:r>
              <a:rPr dirty="0"/>
              <a:t> </a:t>
            </a:r>
            <a:r>
              <a:rPr dirty="0" err="1"/>
              <a:t>발생</a:t>
            </a: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 err="1"/>
              <a:t>목표</a:t>
            </a:r>
            <a:r>
              <a:rPr dirty="0"/>
              <a:t>: </a:t>
            </a:r>
            <a:r>
              <a:rPr dirty="0" err="1"/>
              <a:t>대여</a:t>
            </a:r>
            <a:r>
              <a:rPr dirty="0"/>
              <a:t> </a:t>
            </a:r>
            <a:r>
              <a:rPr dirty="0" err="1"/>
              <a:t>실패</a:t>
            </a:r>
            <a:r>
              <a:rPr lang="ko-KR" altLang="en-US" dirty="0"/>
              <a:t>를 </a:t>
            </a:r>
            <a:r>
              <a:rPr dirty="0" err="1"/>
              <a:t>줄이면서</a:t>
            </a:r>
            <a:r>
              <a:rPr dirty="0"/>
              <a:t>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이동거리</a:t>
            </a:r>
            <a:r>
              <a:rPr dirty="0"/>
              <a:t> </a:t>
            </a:r>
            <a:r>
              <a:rPr dirty="0" err="1"/>
              <a:t>비용</a:t>
            </a:r>
            <a:r>
              <a:rPr lang="ko-KR" altLang="en-US" dirty="0"/>
              <a:t>을</a:t>
            </a:r>
            <a:r>
              <a:rPr dirty="0"/>
              <a:t> </a:t>
            </a:r>
            <a:r>
              <a:rPr dirty="0" err="1"/>
              <a:t>과도하게</a:t>
            </a:r>
            <a:r>
              <a:rPr dirty="0"/>
              <a:t> </a:t>
            </a:r>
            <a:r>
              <a:rPr dirty="0" err="1"/>
              <a:t>키우지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탐색</a:t>
            </a: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 err="1"/>
              <a:t>강화학습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: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행동이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lang="ko-KR" altLang="en-US" dirty="0"/>
              <a:t>타임</a:t>
            </a:r>
            <a:r>
              <a:rPr dirty="0"/>
              <a:t>의 </a:t>
            </a:r>
            <a:r>
              <a:rPr dirty="0" err="1"/>
              <a:t>재고와</a:t>
            </a:r>
            <a:r>
              <a:rPr dirty="0"/>
              <a:t> </a:t>
            </a:r>
            <a:r>
              <a:rPr dirty="0" err="1"/>
              <a:t>미래</a:t>
            </a:r>
            <a:r>
              <a:rPr dirty="0"/>
              <a:t> </a:t>
            </a:r>
            <a:r>
              <a:rPr dirty="0" err="1"/>
              <a:t>대여</a:t>
            </a:r>
            <a:r>
              <a:rPr dirty="0"/>
              <a:t> </a:t>
            </a:r>
            <a:r>
              <a:rPr dirty="0" err="1"/>
              <a:t>실패에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순차</a:t>
            </a:r>
            <a:r>
              <a:rPr dirty="0"/>
              <a:t> </a:t>
            </a:r>
            <a:r>
              <a:rPr dirty="0" err="1"/>
              <a:t>의사결정</a:t>
            </a:r>
            <a:r>
              <a:rPr dirty="0"/>
              <a:t> </a:t>
            </a:r>
            <a:r>
              <a:rPr dirty="0" err="1"/>
              <a:t>문제</a:t>
            </a: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lang="ko-KR" altLang="en-US" dirty="0"/>
              <a:t>운영 목표 ① 대여 실패 감소 ② 재배치 거리 감소 ③ 재고 균형 유지</a:t>
            </a: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 marL="285750" indent="-285750">
              <a:spcAft>
                <a:spcPts val="475"/>
              </a:spcAft>
              <a:buFontTx/>
              <a:buChar char="-"/>
              <a:defRPr sz="16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lang="ko-KR" altLang="en-US" dirty="0" err="1"/>
              <a:t>깃허브</a:t>
            </a:r>
            <a:r>
              <a:rPr lang="ko-KR" altLang="en-US" dirty="0"/>
              <a:t> 코드 </a:t>
            </a:r>
            <a:r>
              <a:rPr lang="en-US" altLang="ko-KR" dirty="0"/>
              <a:t>: </a:t>
            </a:r>
            <a:r>
              <a:rPr lang="ko-KR" altLang="ko-KR" sz="1600" dirty="0">
                <a:hlinkClick r:id="rId2"/>
              </a:rPr>
              <a:t>GitHub - youngy1212/</a:t>
            </a:r>
            <a:r>
              <a:rPr lang="ko-KR" altLang="ko-KR" sz="1600" dirty="0" err="1">
                <a:hlinkClick r:id="rId2"/>
              </a:rPr>
              <a:t>RL_project</a:t>
            </a:r>
            <a:r>
              <a:rPr lang="ko-KR" altLang="ko-KR" sz="1600" dirty="0">
                <a:hlinkClick r:id="rId2"/>
              </a:rPr>
              <a:t> </a:t>
            </a:r>
            <a:r>
              <a:rPr lang="ko-KR" altLang="ko-KR" sz="1600" dirty="0" err="1">
                <a:hlinkClick r:id="rId2"/>
              </a:rPr>
              <a:t>at</a:t>
            </a:r>
            <a:r>
              <a:rPr lang="ko-KR" altLang="ko-KR" sz="1600" dirty="0">
                <a:hlinkClick r:id="rId2"/>
              </a:rPr>
              <a:t> project_1 · GitHub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2. 환경 및 데이터셋 설명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t>31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OD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344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rPr dirty="0"/>
              <a:t>5,362,425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rPr dirty="0"/>
              <a:t>OD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t>1,452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Stations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39" y="12344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t>25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Districts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t>1,116/372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Train/Test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488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rPr dirty="0"/>
              <a:t>3,064,708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rPr dirty="0"/>
              <a:t>Rental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rPr dirty="0"/>
              <a:t>3,030,344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rPr dirty="0"/>
              <a:t>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39" y="21488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rPr dirty="0"/>
              <a:t>76.55%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rPr dirty="0"/>
              <a:t>Cross-district 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5820"/>
            <a:ext cx="10881360" cy="171534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OD </a:t>
            </a:r>
            <a:r>
              <a:rPr dirty="0" err="1"/>
              <a:t>데이터</a:t>
            </a:r>
            <a:r>
              <a:rPr dirty="0"/>
              <a:t>: tpss_bcycl_od_statnhm_202503*.csv — </a:t>
            </a:r>
            <a:r>
              <a:rPr dirty="0" err="1"/>
              <a:t>시간대별</a:t>
            </a:r>
            <a:r>
              <a:rPr dirty="0"/>
              <a:t> </a:t>
            </a:r>
            <a:r>
              <a:rPr dirty="0" err="1"/>
              <a:t>시작</a:t>
            </a:r>
            <a:r>
              <a:rPr dirty="0"/>
              <a:t>/</a:t>
            </a:r>
            <a:r>
              <a:rPr dirty="0" err="1"/>
              <a:t>종료</a:t>
            </a:r>
            <a:r>
              <a:rPr dirty="0"/>
              <a:t> </a:t>
            </a:r>
            <a:r>
              <a:rPr dirty="0" err="1"/>
              <a:t>대여소와</a:t>
            </a:r>
            <a:r>
              <a:rPr dirty="0"/>
              <a:t> </a:t>
            </a:r>
            <a:r>
              <a:rPr dirty="0" err="1"/>
              <a:t>이용</a:t>
            </a:r>
            <a:r>
              <a:rPr dirty="0"/>
              <a:t> </a:t>
            </a:r>
            <a:r>
              <a:rPr dirty="0" err="1"/>
              <a:t>건수</a:t>
            </a:r>
            <a:endParaRPr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대여소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: </a:t>
            </a:r>
            <a:r>
              <a:rPr dirty="0" err="1"/>
              <a:t>공공자전거</a:t>
            </a:r>
            <a:r>
              <a:rPr dirty="0"/>
              <a:t> </a:t>
            </a:r>
            <a:r>
              <a:rPr dirty="0" err="1"/>
              <a:t>대여소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(25.6월 기준).xlsx — </a:t>
            </a:r>
            <a:r>
              <a:rPr dirty="0" err="1"/>
              <a:t>좌표</a:t>
            </a:r>
            <a:r>
              <a:rPr dirty="0"/>
              <a:t>, </a:t>
            </a:r>
            <a:r>
              <a:rPr dirty="0" err="1"/>
              <a:t>거치대수</a:t>
            </a:r>
            <a:r>
              <a:rPr dirty="0"/>
              <a:t>, </a:t>
            </a:r>
            <a:r>
              <a:rPr dirty="0" err="1"/>
              <a:t>자치구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추출</a:t>
            </a:r>
            <a:endParaRPr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lang="ko-KR" altLang="en-US" dirty="0"/>
              <a:t>특이사항 </a:t>
            </a:r>
            <a:r>
              <a:rPr dirty="0"/>
              <a:t>: </a:t>
            </a:r>
            <a:r>
              <a:rPr dirty="0" err="1"/>
              <a:t>실제</a:t>
            </a:r>
            <a:r>
              <a:rPr dirty="0"/>
              <a:t> </a:t>
            </a:r>
            <a:r>
              <a:rPr lang="ko-KR" altLang="en-US" dirty="0"/>
              <a:t>자전거가 없어 빌리지 못한 </a:t>
            </a:r>
            <a:r>
              <a:rPr lang="ko-KR" altLang="en-US" dirty="0" err="1"/>
              <a:t>미충족</a:t>
            </a:r>
            <a:r>
              <a:rPr lang="ko-KR" altLang="en-US" dirty="0"/>
              <a:t> 수요는 데이터가 없어</a:t>
            </a:r>
            <a:r>
              <a:rPr lang="en-US" altLang="ko-KR" dirty="0"/>
              <a:t>, lost rentals</a:t>
            </a:r>
            <a:r>
              <a:rPr lang="ko-KR" altLang="en-US" dirty="0"/>
              <a:t>의 경우 관측 </a:t>
            </a:r>
            <a:r>
              <a:rPr lang="en-US" altLang="ko-KR" dirty="0"/>
              <a:t>OD</a:t>
            </a:r>
            <a:r>
              <a:rPr lang="ko-KR" altLang="en-US" dirty="0"/>
              <a:t>를 외생적 수요 </a:t>
            </a:r>
            <a:r>
              <a:rPr lang="en-US" altLang="ko-KR" dirty="0"/>
              <a:t>proxy</a:t>
            </a:r>
            <a:r>
              <a:rPr lang="ko-KR" altLang="en-US" dirty="0"/>
              <a:t>로 사용하여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/>
              <a:t>timestep</a:t>
            </a:r>
            <a:r>
              <a:rPr lang="ko-KR" altLang="en-US" dirty="0"/>
              <a:t>에서 수요를 모두 처리하지 못한 경우로 </a:t>
            </a:r>
            <a:r>
              <a:rPr lang="en-US" altLang="ko-KR" dirty="0"/>
              <a:t>lost rentals </a:t>
            </a:r>
            <a:r>
              <a:rPr lang="ko-KR" altLang="en-US" dirty="0"/>
              <a:t>계산하였다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3. 데이터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920240" cy="59436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04A"/>
                </a:solidFill>
                <a:latin typeface="Apple SD Gothic Neo"/>
              </a:defRPr>
            </a:pPr>
            <a:r>
              <a:t>OD CSV 병합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325880"/>
            <a:ext cx="1920240" cy="59436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30분 time bin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79" y="14630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325880"/>
            <a:ext cx="1920240" cy="59436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04A"/>
                </a:solidFill>
                <a:latin typeface="Apple SD Gothic Neo"/>
              </a:defRPr>
            </a:pPr>
            <a:r>
              <a:t>rental/return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79" y="14630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325880"/>
            <a:ext cx="1920240" cy="59436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04A"/>
                </a:solidFill>
                <a:latin typeface="Apple SD Gothic Neo"/>
              </a:defRPr>
            </a:pPr>
            <a:r>
              <a:t>station metadata 매칭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4630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325880"/>
            <a:ext cx="1920240" cy="59436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304A"/>
                </a:solidFill>
                <a:latin typeface="Apple SD Gothic Neo"/>
              </a:defRPr>
            </a:pPr>
            <a:r>
              <a:t>distance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1097280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시작</a:t>
            </a:r>
            <a:r>
              <a:rPr dirty="0"/>
              <a:t> </a:t>
            </a:r>
            <a:r>
              <a:rPr dirty="0" err="1"/>
              <a:t>대여소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rental demand, </a:t>
            </a:r>
            <a:r>
              <a:rPr dirty="0" err="1"/>
              <a:t>종료</a:t>
            </a:r>
            <a:r>
              <a:rPr dirty="0"/>
              <a:t> </a:t>
            </a:r>
            <a:r>
              <a:rPr dirty="0" err="1"/>
              <a:t>대여소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return demand </a:t>
            </a:r>
            <a:r>
              <a:rPr dirty="0" err="1"/>
              <a:t>생성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대여소별</a:t>
            </a:r>
            <a:r>
              <a:rPr dirty="0"/>
              <a:t> </a:t>
            </a:r>
            <a:r>
              <a:rPr dirty="0" err="1"/>
              <a:t>capacity·latitude·longitude·district_name을</a:t>
            </a:r>
            <a:r>
              <a:rPr dirty="0"/>
              <a:t> </a:t>
            </a:r>
            <a:r>
              <a:rPr dirty="0" err="1"/>
              <a:t>station_meta.csv에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위도</a:t>
            </a:r>
            <a:r>
              <a:rPr dirty="0"/>
              <a:t>/</a:t>
            </a:r>
            <a:r>
              <a:rPr dirty="0" err="1"/>
              <a:t>경도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거리</a:t>
            </a:r>
            <a:r>
              <a:rPr dirty="0"/>
              <a:t> </a:t>
            </a:r>
            <a:r>
              <a:rPr dirty="0" err="1"/>
              <a:t>행렬을</a:t>
            </a:r>
            <a:r>
              <a:rPr dirty="0"/>
              <a:t>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proxy </a:t>
            </a:r>
            <a:r>
              <a:rPr dirty="0" err="1"/>
              <a:t>계산에</a:t>
            </a:r>
            <a:r>
              <a:rPr dirty="0"/>
              <a:t> </a:t>
            </a:r>
            <a:r>
              <a:rPr dirty="0" err="1"/>
              <a:t>사용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train/</a:t>
            </a:r>
            <a:r>
              <a:rPr dirty="0" err="1"/>
              <a:t>test는</a:t>
            </a:r>
            <a:r>
              <a:rPr dirty="0"/>
              <a:t> </a:t>
            </a:r>
            <a:r>
              <a:rPr dirty="0" err="1"/>
              <a:t>시간순으로</a:t>
            </a:r>
            <a:r>
              <a:rPr dirty="0"/>
              <a:t> </a:t>
            </a:r>
            <a:r>
              <a:rPr dirty="0" err="1"/>
              <a:t>분리하여</a:t>
            </a:r>
            <a:r>
              <a:rPr dirty="0"/>
              <a:t> </a:t>
            </a:r>
            <a:r>
              <a:rPr dirty="0" err="1"/>
              <a:t>미래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누수를</a:t>
            </a:r>
            <a:r>
              <a:rPr dirty="0"/>
              <a:t> </a:t>
            </a:r>
            <a:r>
              <a:rPr dirty="0" err="1"/>
              <a:t>방지</a:t>
            </a:r>
            <a:endParaRPr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3977639"/>
          <a:ext cx="10698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파일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역할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rental_train/test.npy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시간×대여소 대여 수요 행렬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return_train/test.npy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시간×대여소 반납 수요 행렬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capacity.npy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대여소별 거치 가능 자전거 수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distance_matrix.npy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대여소 간 거리 행렬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station_meta.csv / district_meta.csv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대여소·자치구 메타데이터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4. 강화학습 환경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10881360" cy="777240"/>
          </a:xfrm>
          <a:prstGeom prst="roundRect">
            <a:avLst/>
          </a:prstGeom>
          <a:solidFill>
            <a:srgbClr val="FAFCFF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timestep: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행동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→ </a:t>
            </a:r>
            <a:r>
              <a:rPr dirty="0" err="1"/>
              <a:t>자전거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→ </a:t>
            </a:r>
            <a:r>
              <a:rPr dirty="0" err="1"/>
              <a:t>실제</a:t>
            </a:r>
            <a:r>
              <a:rPr dirty="0"/>
              <a:t> rental/return demand </a:t>
            </a:r>
            <a:r>
              <a:rPr dirty="0" err="1"/>
              <a:t>적용</a:t>
            </a:r>
            <a:r>
              <a:rPr dirty="0"/>
              <a:t> → lost/overflow </a:t>
            </a:r>
            <a:r>
              <a:rPr dirty="0" err="1"/>
              <a:t>계산</a:t>
            </a:r>
            <a:r>
              <a:rPr dirty="0"/>
              <a:t> → reward </a:t>
            </a:r>
            <a:r>
              <a:rPr dirty="0" err="1"/>
              <a:t>반환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48450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Inventory는</a:t>
            </a:r>
            <a:r>
              <a:rPr dirty="0"/>
              <a:t> 각 </a:t>
            </a:r>
            <a:r>
              <a:rPr dirty="0" err="1"/>
              <a:t>대여소의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자전거</a:t>
            </a:r>
            <a:r>
              <a:rPr dirty="0"/>
              <a:t> </a:t>
            </a:r>
            <a:r>
              <a:rPr dirty="0" err="1"/>
              <a:t>수이며</a:t>
            </a:r>
            <a:r>
              <a:rPr dirty="0"/>
              <a:t> 0~capacity </a:t>
            </a:r>
            <a:r>
              <a:rPr dirty="0" err="1"/>
              <a:t>범위로</a:t>
            </a:r>
            <a:r>
              <a:rPr dirty="0"/>
              <a:t> clip</a:t>
            </a:r>
            <a:r>
              <a:rPr lang="en-US" dirty="0"/>
              <a:t> </a:t>
            </a:r>
            <a:endParaRPr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rental_demand가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inventory보다</a:t>
            </a:r>
            <a:r>
              <a:rPr dirty="0"/>
              <a:t> </a:t>
            </a:r>
            <a:r>
              <a:rPr dirty="0" err="1"/>
              <a:t>크면</a:t>
            </a:r>
            <a:r>
              <a:rPr dirty="0"/>
              <a:t> </a:t>
            </a:r>
            <a:r>
              <a:rPr dirty="0" err="1"/>
              <a:t>남은</a:t>
            </a:r>
            <a:r>
              <a:rPr dirty="0"/>
              <a:t> </a:t>
            </a:r>
            <a:r>
              <a:rPr dirty="0" err="1"/>
              <a:t>수요를</a:t>
            </a:r>
            <a:r>
              <a:rPr dirty="0"/>
              <a:t> lost </a:t>
            </a:r>
            <a:r>
              <a:rPr dirty="0" err="1"/>
              <a:t>rentals로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return_demand가</a:t>
            </a:r>
            <a:r>
              <a:rPr dirty="0"/>
              <a:t> 빈 </a:t>
            </a:r>
            <a:r>
              <a:rPr dirty="0" err="1"/>
              <a:t>거치대보다</a:t>
            </a:r>
            <a:r>
              <a:rPr dirty="0"/>
              <a:t> </a:t>
            </a:r>
            <a:r>
              <a:rPr dirty="0" err="1"/>
              <a:t>크면</a:t>
            </a:r>
            <a:r>
              <a:rPr dirty="0"/>
              <a:t> </a:t>
            </a:r>
            <a:r>
              <a:rPr dirty="0" err="1"/>
              <a:t>남은</a:t>
            </a:r>
            <a:r>
              <a:rPr dirty="0"/>
              <a:t> </a:t>
            </a:r>
            <a:r>
              <a:rPr dirty="0" err="1"/>
              <a:t>반납을</a:t>
            </a:r>
            <a:r>
              <a:rPr dirty="0"/>
              <a:t> overflow </a:t>
            </a:r>
            <a:r>
              <a:rPr dirty="0" err="1"/>
              <a:t>returns로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거리는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</a:t>
            </a:r>
            <a:r>
              <a:rPr dirty="0" err="1"/>
              <a:t>주행거리가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대여소</a:t>
            </a:r>
            <a:r>
              <a:rPr dirty="0"/>
              <a:t> 간 </a:t>
            </a:r>
            <a:r>
              <a:rPr dirty="0" err="1"/>
              <a:t>거리</a:t>
            </a:r>
            <a:r>
              <a:rPr dirty="0"/>
              <a:t> ×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자전거</a:t>
            </a:r>
            <a:r>
              <a:rPr dirty="0"/>
              <a:t> </a:t>
            </a:r>
            <a:r>
              <a:rPr dirty="0" err="1"/>
              <a:t>수의</a:t>
            </a:r>
            <a:r>
              <a:rPr dirty="0"/>
              <a:t> bike-km </a:t>
            </a:r>
            <a:r>
              <a:rPr dirty="0" err="1"/>
              <a:t>비용</a:t>
            </a:r>
            <a:endParaRPr dirty="0"/>
          </a:p>
          <a:p>
            <a:pPr>
              <a:spcAft>
                <a:spcPts val="475"/>
              </a:spcAft>
              <a:defRPr sz="15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inventory는</a:t>
            </a:r>
            <a:r>
              <a:rPr lang="en-US" dirty="0"/>
              <a:t> </a:t>
            </a:r>
            <a:r>
              <a:rPr lang="ko-KR" altLang="en-US" dirty="0"/>
              <a:t>존재하지 않아</a:t>
            </a:r>
            <a:r>
              <a:rPr lang="en-US" altLang="ko-KR" dirty="0"/>
              <a:t>,</a:t>
            </a:r>
            <a:r>
              <a:rPr dirty="0"/>
              <a:t> </a:t>
            </a:r>
            <a:r>
              <a:rPr dirty="0" err="1"/>
              <a:t>capacity의</a:t>
            </a:r>
            <a:r>
              <a:rPr dirty="0"/>
              <a:t> 50%로 </a:t>
            </a:r>
            <a:r>
              <a:rPr dirty="0" err="1"/>
              <a:t>가정</a:t>
            </a:r>
            <a:r>
              <a:rPr lang="ko-KR" altLang="en-US" dirty="0"/>
              <a:t>하였다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5. State / Action / Reward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84277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구분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Global MDP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Local MDP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State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자치구별 재고율, 최근 대여/반납, 부족/과잉 비율, 시간 feature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구 </a:t>
                      </a:r>
                      <a:r>
                        <a:rPr dirty="0" err="1"/>
                        <a:t>내부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station별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재고율과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최근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수요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Action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 no-op, 1~25 재배치할 자치구 선택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0 no-op, 1~k² surplus-shortage </a:t>
                      </a:r>
                      <a:r>
                        <a:rPr dirty="0" err="1"/>
                        <a:t>후보</a:t>
                      </a:r>
                      <a:r>
                        <a:rPr dirty="0"/>
                        <a:t> pair </a:t>
                      </a:r>
                      <a:r>
                        <a:rPr dirty="0" err="1"/>
                        <a:t>선택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Reward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서울 전체 lost/overflow, 거리 비용, 재고 불균형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구 내부 lost/overflow, 거리 비용, 재고 불균형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Transition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재배치 후 실제 수요 적용, inventory clip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동일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3886200"/>
            <a:ext cx="11018520" cy="777240"/>
          </a:xfrm>
          <a:prstGeom prst="roundRect">
            <a:avLst/>
          </a:prstGeom>
          <a:solidFill>
            <a:srgbClr val="EFF7F0"/>
          </a:solidFill>
          <a:ln>
            <a:solidFill>
              <a:srgbClr val="38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3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reward = - (</a:t>
            </a:r>
            <a:r>
              <a:rPr dirty="0" err="1"/>
              <a:t>lost_weight×lost_rentals</a:t>
            </a:r>
            <a:r>
              <a:rPr dirty="0"/>
              <a:t> + </a:t>
            </a:r>
            <a:r>
              <a:rPr dirty="0" err="1"/>
              <a:t>overflow_weight×overflow_returns</a:t>
            </a:r>
            <a:r>
              <a:rPr dirty="0"/>
              <a:t> + </a:t>
            </a:r>
            <a:r>
              <a:rPr dirty="0" err="1"/>
              <a:t>distance_weight×reposition_distance</a:t>
            </a:r>
            <a:r>
              <a:rPr dirty="0"/>
              <a:t> + </a:t>
            </a:r>
            <a:r>
              <a:rPr dirty="0" err="1"/>
              <a:t>imbalance_weight×imbalance_penalty</a:t>
            </a:r>
            <a:r>
              <a:rPr dirty="0"/>
              <a:t>) / </a:t>
            </a:r>
            <a:r>
              <a:rPr dirty="0" err="1"/>
              <a:t>total_demand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549894"/>
              </p:ext>
            </p:extLst>
          </p:nvPr>
        </p:nvGraphicFramePr>
        <p:xfrm>
          <a:off x="777240" y="4892040"/>
          <a:ext cx="106070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파라미터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값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의미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lost_weight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1.0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대여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패널티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overflow_weight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0.5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lang="ko-KR" altLang="en-US" dirty="0"/>
                        <a:t>재고 과잉 </a:t>
                      </a:r>
                      <a:r>
                        <a:rPr dirty="0" err="1"/>
                        <a:t>패널티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distance_weight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0.05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이동거리 비용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imbalance_weight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0.1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재고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불균형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패널티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6. 계층형 설계: 1차 → 2차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12080" cy="50292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F304A"/>
                </a:solidFill>
                <a:latin typeface="Apple SD Gothic Neo"/>
              </a:defRPr>
            </a:pPr>
            <a:r>
              <a:t>1차: District-level DQN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029200" cy="1554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t>• Global DQN이 재배치할 자치구 선택</a:t>
            </a:r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t>• 선택된 구 내부 이동은 Greedy Local rule</a:t>
            </a:r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t>• 한계: station-to-station 이동 전략을 학습하지 못함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212080" cy="502920"/>
          </a:xfrm>
          <a:prstGeom prst="roundRect">
            <a:avLst/>
          </a:prstGeom>
          <a:solidFill>
            <a:srgbClr val="EFF7F0"/>
          </a:solidFill>
          <a:ln>
            <a:solidFill>
              <a:srgbClr val="38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500" b="1">
                <a:solidFill>
                  <a:srgbClr val="1F304A"/>
                </a:solidFill>
                <a:latin typeface="Apple SD Gothic Neo"/>
              </a:defRPr>
            </a:pPr>
            <a:r>
              <a:t>2차: Global DQN + Frozen Local DQN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74519"/>
            <a:ext cx="5029200" cy="1554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25개 </a:t>
            </a:r>
            <a:r>
              <a:rPr dirty="0" err="1"/>
              <a:t>자치구별</a:t>
            </a:r>
            <a:r>
              <a:rPr dirty="0"/>
              <a:t> Local </a:t>
            </a:r>
            <a:r>
              <a:rPr dirty="0" err="1"/>
              <a:t>DQN을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학습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Local </a:t>
            </a:r>
            <a:r>
              <a:rPr dirty="0" err="1"/>
              <a:t>DQN을</a:t>
            </a:r>
            <a:r>
              <a:rPr dirty="0"/>
              <a:t> </a:t>
            </a:r>
            <a:r>
              <a:rPr dirty="0" err="1"/>
              <a:t>고정한</a:t>
            </a:r>
            <a:r>
              <a:rPr dirty="0"/>
              <a:t> 뒤 Global DQN </a:t>
            </a:r>
            <a:r>
              <a:rPr dirty="0" err="1"/>
              <a:t>학습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Global이</a:t>
            </a:r>
            <a:r>
              <a:rPr dirty="0"/>
              <a:t> </a:t>
            </a:r>
            <a:r>
              <a:rPr dirty="0" err="1"/>
              <a:t>구를</a:t>
            </a:r>
            <a:r>
              <a:rPr dirty="0"/>
              <a:t> </a:t>
            </a:r>
            <a:r>
              <a:rPr dirty="0" err="1"/>
              <a:t>고르면</a:t>
            </a:r>
            <a:r>
              <a:rPr dirty="0"/>
              <a:t> Frozen </a:t>
            </a:r>
            <a:r>
              <a:rPr dirty="0" err="1"/>
              <a:t>Local이</a:t>
            </a:r>
            <a:r>
              <a:rPr dirty="0"/>
              <a:t> source/target </a:t>
            </a:r>
            <a:r>
              <a:rPr dirty="0" err="1"/>
              <a:t>선택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10424160" cy="868680"/>
          </a:xfrm>
          <a:prstGeom prst="roundRect">
            <a:avLst/>
          </a:prstGeom>
          <a:solidFill>
            <a:srgbClr val="FFF8E8"/>
          </a:solidFill>
          <a:ln>
            <a:solidFill>
              <a:srgbClr val="CF7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F304A"/>
                </a:solidFill>
                <a:latin typeface="Apple SD Gothic Neo"/>
              </a:defRPr>
            </a:pPr>
            <a:r>
              <a:rPr dirty="0" err="1"/>
              <a:t>서울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→ Global DQN: </a:t>
            </a:r>
            <a:r>
              <a:rPr dirty="0" err="1"/>
              <a:t>자치구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→ </a:t>
            </a:r>
            <a:r>
              <a:rPr dirty="0" err="1"/>
              <a:t>선택된</a:t>
            </a:r>
            <a:r>
              <a:rPr dirty="0"/>
              <a:t> </a:t>
            </a:r>
            <a:r>
              <a:rPr dirty="0" err="1"/>
              <a:t>구의</a:t>
            </a:r>
            <a:r>
              <a:rPr dirty="0"/>
              <a:t> Local DQN/Greedy: </a:t>
            </a:r>
            <a:r>
              <a:rPr dirty="0" err="1"/>
              <a:t>대여소</a:t>
            </a:r>
            <a:r>
              <a:rPr dirty="0"/>
              <a:t> pair </a:t>
            </a:r>
            <a:r>
              <a:rPr dirty="0" err="1"/>
              <a:t>선택</a:t>
            </a:r>
            <a:r>
              <a:rPr dirty="0"/>
              <a:t> → </a:t>
            </a:r>
            <a:r>
              <a:rPr dirty="0" err="1"/>
              <a:t>재배치</a:t>
            </a:r>
            <a:r>
              <a:rPr dirty="0"/>
              <a:t> →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수요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→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10424160" cy="5380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300">
                <a:solidFill>
                  <a:srgbClr val="141414"/>
                </a:solidFill>
                <a:latin typeface="Apple SD Gothic Neo"/>
              </a:defRPr>
            </a:pPr>
            <a:r>
              <a:rPr lang="en-US" dirty="0"/>
              <a:t>- 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학습을</a:t>
            </a:r>
            <a:r>
              <a:rPr dirty="0"/>
              <a:t> </a:t>
            </a:r>
            <a:r>
              <a:rPr dirty="0" err="1"/>
              <a:t>피한</a:t>
            </a:r>
            <a:r>
              <a:rPr dirty="0"/>
              <a:t> </a:t>
            </a:r>
            <a:r>
              <a:rPr dirty="0" err="1"/>
              <a:t>이유</a:t>
            </a:r>
            <a:r>
              <a:rPr dirty="0"/>
              <a:t>: Local </a:t>
            </a:r>
            <a:r>
              <a:rPr dirty="0" err="1"/>
              <a:t>policy가</a:t>
            </a:r>
            <a:r>
              <a:rPr dirty="0"/>
              <a:t> </a:t>
            </a:r>
            <a:r>
              <a:rPr dirty="0" err="1"/>
              <a:t>계속</a:t>
            </a:r>
            <a:r>
              <a:rPr dirty="0"/>
              <a:t> </a:t>
            </a:r>
            <a:r>
              <a:rPr dirty="0" err="1"/>
              <a:t>바뀌면</a:t>
            </a:r>
            <a:r>
              <a:rPr dirty="0"/>
              <a:t> Global DQN </a:t>
            </a:r>
            <a:r>
              <a:rPr dirty="0" err="1"/>
              <a:t>입장에서</a:t>
            </a:r>
            <a:r>
              <a:rPr dirty="0"/>
              <a:t> </a:t>
            </a:r>
            <a:r>
              <a:rPr dirty="0" err="1"/>
              <a:t>환경이</a:t>
            </a:r>
            <a:r>
              <a:rPr dirty="0"/>
              <a:t> non-</a:t>
            </a:r>
            <a:r>
              <a:rPr dirty="0" err="1"/>
              <a:t>stationary해지고</a:t>
            </a:r>
            <a:r>
              <a:rPr dirty="0"/>
              <a:t>,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 </a:t>
            </a:r>
            <a:r>
              <a:rPr dirty="0" err="1"/>
              <a:t>원인도</a:t>
            </a:r>
            <a:r>
              <a:rPr dirty="0"/>
              <a:t> </a:t>
            </a:r>
            <a:r>
              <a:rPr dirty="0" err="1"/>
              <a:t>분리하기</a:t>
            </a:r>
            <a:r>
              <a:rPr dirty="0"/>
              <a:t> </a:t>
            </a:r>
            <a:r>
              <a:rPr dirty="0" err="1"/>
              <a:t>어렵다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75"/>
              </a:spcAft>
              <a:defRPr sz="1300">
                <a:solidFill>
                  <a:srgbClr val="141414"/>
                </a:solidFill>
                <a:latin typeface="Apple SD Gothic Neo"/>
              </a:defRPr>
            </a:pPr>
            <a:r>
              <a:rPr lang="en-US" altLang="ko-KR" dirty="0"/>
              <a:t>- </a:t>
            </a:r>
            <a:r>
              <a:rPr lang="ko-KR" altLang="en-US" dirty="0"/>
              <a:t>설계 이유 </a:t>
            </a:r>
            <a:r>
              <a:rPr lang="en-US" altLang="ko-KR" dirty="0"/>
              <a:t>: 1</a:t>
            </a:r>
            <a:r>
              <a:rPr lang="ko-KR" altLang="en-US" dirty="0"/>
              <a:t>차 설계 후 사용자는 구 별로 이동할 수 있음을 인식하여 </a:t>
            </a:r>
            <a:r>
              <a:rPr lang="en-US" altLang="ko-KR" dirty="0"/>
              <a:t>1,2</a:t>
            </a:r>
            <a:r>
              <a:rPr lang="ko-KR" altLang="en-US" dirty="0"/>
              <a:t>차로 계층형으로 설계 변경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7. 강화학습 알고리즘 및 Hyperparameter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212080" cy="218213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알고리즘</a:t>
            </a:r>
            <a:r>
              <a:rPr dirty="0"/>
              <a:t>: Stable-Baselines3 DQN</a:t>
            </a:r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이유</a:t>
            </a:r>
            <a:r>
              <a:rPr dirty="0"/>
              <a:t>: Global </a:t>
            </a:r>
            <a:r>
              <a:rPr dirty="0" err="1"/>
              <a:t>action은</a:t>
            </a:r>
            <a:r>
              <a:rPr dirty="0"/>
              <a:t> </a:t>
            </a:r>
            <a:r>
              <a:rPr dirty="0" err="1"/>
              <a:t>자치구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, Local </a:t>
            </a:r>
            <a:r>
              <a:rPr dirty="0" err="1"/>
              <a:t>action은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pair </a:t>
            </a:r>
            <a:r>
              <a:rPr dirty="0" err="1"/>
              <a:t>선택으로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discrete action</a:t>
            </a:r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Local DQN: </a:t>
            </a:r>
            <a:r>
              <a:rPr dirty="0" err="1"/>
              <a:t>자치구별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25개 </a:t>
            </a:r>
            <a:r>
              <a:rPr dirty="0" err="1"/>
              <a:t>학습</a:t>
            </a:r>
            <a:r>
              <a:rPr dirty="0"/>
              <a:t> → Frozen </a:t>
            </a:r>
            <a:r>
              <a:rPr dirty="0" err="1"/>
              <a:t>policy로</a:t>
            </a:r>
            <a:r>
              <a:rPr dirty="0"/>
              <a:t> </a:t>
            </a:r>
            <a:r>
              <a:rPr dirty="0" err="1"/>
              <a:t>고정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Global DQN: </a:t>
            </a:r>
            <a:r>
              <a:rPr dirty="0" err="1"/>
              <a:t>서울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state에서</a:t>
            </a:r>
            <a:r>
              <a:rPr dirty="0"/>
              <a:t> </a:t>
            </a:r>
            <a:r>
              <a:rPr dirty="0" err="1"/>
              <a:t>재배치할</a:t>
            </a:r>
            <a:r>
              <a:rPr dirty="0"/>
              <a:t> </a:t>
            </a:r>
            <a:r>
              <a:rPr dirty="0" err="1"/>
              <a:t>자치구를</a:t>
            </a:r>
            <a:r>
              <a:rPr dirty="0"/>
              <a:t> </a:t>
            </a:r>
            <a:r>
              <a:rPr dirty="0" err="1"/>
              <a:t>선택</a:t>
            </a:r>
            <a:endParaRPr lang="en-US"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097280"/>
          <a:ext cx="56235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구분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Local DQN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Global DQN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learning_rate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5e-4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5e-4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gamma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0.99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0.99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batch_size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128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128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buffer_size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100,000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200,000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total_timesteps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100,000 / district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500,000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net_arch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128,128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256,256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seed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42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/>
                        <a:t>42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8. 실험 셋업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7899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 algn="l">
                        <a:defRPr sz="10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항목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설정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실험 환경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Python, Stable-Baselines3 DQN, Custom Gymnasium-style environment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데이터 기간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2025년 3월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Train/Test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시간순 분리: 1,116 / 372 timesteps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제어 단위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Global: 자치구 선택, Local: 구 내부 station pair 선택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pPr algn="l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주요 비교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No Rebalancing, Random, Greedy, Rule-Based, Global DQN, Local DQN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611880"/>
            <a:ext cx="10515600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t>• 1차 실험: Global DQN + Greedy Local — 구 선택만 DQN이 담당</a:t>
            </a:r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t>• 2차 실험: Global DQN + Frozen Local DQN — 구 선택과 구 내부 이동을 계층적으로 분리</a:t>
            </a:r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t>• 평가 기간에는 학습되지 않은 test timesteps만 사용하여 정책 성능 비교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9. Evaluation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647839"/>
              </p:ext>
            </p:extLst>
          </p:nvPr>
        </p:nvGraphicFramePr>
        <p:xfrm>
          <a:off x="502920" y="1188720"/>
          <a:ext cx="11155680" cy="278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의미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좋은 방향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total_reward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lost/overflow/distance/imbalance 벌점 기반 보상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높을수록 좋음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total_lost_rentals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자전거 부족으로 처리하지 못한 대여 수요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낮을수록 좋음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rental_satisfaction_rate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전체 대여 수요 중 성공 처리 비율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높을수록 좋음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total_reposition_distance_km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재배치 이동거리 비용 proxy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낮을수록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좋음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4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distance_per_saved_rental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대여 실패 1건 감소당 이동거리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rPr dirty="0" err="1"/>
                        <a:t>낮을수록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좋음</a:t>
                      </a:r>
                      <a:endParaRPr dirty="0"/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  <a:latin typeface="Apple SD Gothic Neo"/>
              </a:defRPr>
            </a:pPr>
            <a:r>
              <a:t>서울시 따릉이 계층형 DQN 재배치 실험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10. 실험 1 결과: District-level DQN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74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Policy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Reward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Lost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Sat.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Distance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Saved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No Rebalancing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-57.60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198,323.5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77.26%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N/A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Random District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-55.46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193,828.5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77.78%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44,341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4,495.0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Greedy District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-54.93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192,486.0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77.93%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55,219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5,837.5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Rule-Based District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-56.00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195,376.0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77.60%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26,049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2,947.5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Global DQN + Greedy Local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-56.51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195,353.0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77.60%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30,507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2,970.5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703320"/>
            <a:ext cx="10698480" cy="777240"/>
          </a:xfrm>
          <a:prstGeom prst="roundRect">
            <a:avLst/>
          </a:prstGeom>
          <a:solidFill>
            <a:srgbClr val="FFF8E8"/>
          </a:solidFill>
          <a:ln>
            <a:solidFill>
              <a:srgbClr val="CF7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5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 Global DQN + Greedy </a:t>
            </a:r>
            <a:r>
              <a:rPr dirty="0" err="1"/>
              <a:t>Local은</a:t>
            </a:r>
            <a:r>
              <a:rPr dirty="0"/>
              <a:t> No </a:t>
            </a:r>
            <a:r>
              <a:rPr dirty="0" err="1"/>
              <a:t>Rebalancing보다</a:t>
            </a:r>
            <a:r>
              <a:rPr dirty="0"/>
              <a:t> lost </a:t>
            </a:r>
            <a:r>
              <a:rPr dirty="0" err="1"/>
              <a:t>rentals를</a:t>
            </a:r>
            <a:r>
              <a:rPr dirty="0"/>
              <a:t> 2,970.5건 </a:t>
            </a:r>
            <a:r>
              <a:rPr dirty="0" err="1"/>
              <a:t>줄였지만</a:t>
            </a:r>
            <a:r>
              <a:rPr dirty="0"/>
              <a:t>, Greedy </a:t>
            </a:r>
            <a:r>
              <a:rPr dirty="0" err="1"/>
              <a:t>District보다</a:t>
            </a:r>
            <a:r>
              <a:rPr dirty="0"/>
              <a:t> 2,867.0건 더 </a:t>
            </a:r>
            <a:r>
              <a:rPr dirty="0" err="1"/>
              <a:t>많았다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424160" cy="822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1차 </a:t>
            </a:r>
            <a:r>
              <a:rPr dirty="0" err="1"/>
              <a:t>한계</a:t>
            </a:r>
            <a:r>
              <a:rPr dirty="0"/>
              <a:t>: </a:t>
            </a:r>
            <a:r>
              <a:rPr dirty="0" err="1"/>
              <a:t>DQN은</a:t>
            </a:r>
            <a:r>
              <a:rPr dirty="0"/>
              <a:t> </a:t>
            </a:r>
            <a:r>
              <a:rPr dirty="0" err="1"/>
              <a:t>자치구만</a:t>
            </a:r>
            <a:r>
              <a:rPr dirty="0"/>
              <a:t> </a:t>
            </a:r>
            <a:r>
              <a:rPr dirty="0" err="1"/>
              <a:t>선택하고</a:t>
            </a:r>
            <a:r>
              <a:rPr dirty="0"/>
              <a:t>, 구 </a:t>
            </a:r>
            <a:r>
              <a:rPr dirty="0" err="1"/>
              <a:t>내부</a:t>
            </a:r>
            <a:r>
              <a:rPr dirty="0"/>
              <a:t> station-to-station </a:t>
            </a:r>
            <a:r>
              <a:rPr dirty="0" err="1"/>
              <a:t>이동은</a:t>
            </a:r>
            <a:r>
              <a:rPr dirty="0"/>
              <a:t> greedy </a:t>
            </a:r>
            <a:r>
              <a:rPr dirty="0" err="1"/>
              <a:t>rule에</a:t>
            </a:r>
            <a:r>
              <a:rPr dirty="0"/>
              <a:t> </a:t>
            </a:r>
            <a:r>
              <a:rPr dirty="0" err="1"/>
              <a:t>의존</a:t>
            </a:r>
            <a:endParaRPr dirty="0"/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결론</a:t>
            </a:r>
            <a:r>
              <a:rPr dirty="0"/>
              <a:t>: 구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전략도</a:t>
            </a:r>
            <a:r>
              <a:rPr dirty="0"/>
              <a:t> </a:t>
            </a:r>
            <a:r>
              <a:rPr dirty="0" err="1"/>
              <a:t>학습할</a:t>
            </a:r>
            <a:r>
              <a:rPr dirty="0"/>
              <a:t> </a:t>
            </a:r>
            <a:r>
              <a:rPr dirty="0" err="1"/>
              <a:t>필요가</a:t>
            </a:r>
            <a:r>
              <a:rPr dirty="0"/>
              <a:t> </a:t>
            </a:r>
            <a:r>
              <a:rPr dirty="0" err="1"/>
              <a:t>있어</a:t>
            </a:r>
            <a:r>
              <a:rPr dirty="0"/>
              <a:t> Local </a:t>
            </a:r>
            <a:r>
              <a:rPr dirty="0" err="1"/>
              <a:t>DQN을</a:t>
            </a:r>
            <a:r>
              <a:rPr dirty="0"/>
              <a:t> </a:t>
            </a:r>
            <a:r>
              <a:rPr dirty="0" err="1"/>
              <a:t>추가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11. 실험 2 결과: 계층형 DQN 정책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74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7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Policy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Reward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Lost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Sat.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Distance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D/Saved</a:t>
                      </a:r>
                    </a:p>
                  </a:txBody>
                  <a:tcPr marL="36576" marR="36576" marT="18288" marB="18288">
                    <a:solidFill>
                      <a:srgbClr val="1F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No Rebalancing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-57.60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198,323.5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77.26%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N/A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Greedy District + Greedy Local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-54.93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192,486.0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77.93%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55,219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9.46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Global DQN + Greedy Local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-56.51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195,353.0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77.60%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30,507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10.27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Greedy District + Local DQN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-55.19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192,706.5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77.91%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50,003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8.90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Global DQN + Local DQN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-56.70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195,490.5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77.59%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34,501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solidFill>
                            <a:srgbClr val="141414"/>
                          </a:solidFill>
                          <a:latin typeface="Apple SD Gothic Neo"/>
                        </a:defRPr>
                      </a:pPr>
                      <a:r>
                        <a:t>12.18</a:t>
                      </a:r>
                    </a:p>
                  </a:txBody>
                  <a:tcPr marL="36576" marR="36576" marT="18288" marB="18288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749039"/>
            <a:ext cx="10424160" cy="136909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총 </a:t>
            </a:r>
            <a:r>
              <a:rPr dirty="0" err="1"/>
              <a:t>reward·lost</a:t>
            </a:r>
            <a:r>
              <a:rPr dirty="0"/>
              <a:t> </a:t>
            </a:r>
            <a:r>
              <a:rPr dirty="0" err="1"/>
              <a:t>rentals·satisfaction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1위: Greedy District + Greedy Local</a:t>
            </a:r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거리</a:t>
            </a:r>
            <a:r>
              <a:rPr dirty="0"/>
              <a:t> </a:t>
            </a:r>
            <a:r>
              <a:rPr dirty="0" err="1"/>
              <a:t>효율성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1위: Greedy District + Local DQN (</a:t>
            </a:r>
            <a:r>
              <a:rPr dirty="0" err="1"/>
              <a:t>distance_per_saved_rental</a:t>
            </a:r>
            <a:r>
              <a:rPr dirty="0"/>
              <a:t>=8.90)</a:t>
            </a:r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Global DQN + Local </a:t>
            </a:r>
            <a:r>
              <a:rPr dirty="0" err="1"/>
              <a:t>DQN은</a:t>
            </a:r>
            <a:r>
              <a:rPr dirty="0"/>
              <a:t> </a:t>
            </a:r>
            <a:r>
              <a:rPr dirty="0" err="1"/>
              <a:t>완전한</a:t>
            </a:r>
            <a:r>
              <a:rPr dirty="0"/>
              <a:t> </a:t>
            </a:r>
            <a:r>
              <a:rPr dirty="0" err="1"/>
              <a:t>계층형</a:t>
            </a:r>
            <a:r>
              <a:rPr dirty="0"/>
              <a:t> </a:t>
            </a:r>
            <a:r>
              <a:rPr dirty="0" err="1"/>
              <a:t>구조지만</a:t>
            </a:r>
            <a:r>
              <a:rPr dirty="0"/>
              <a:t>,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결과에서는</a:t>
            </a:r>
            <a:r>
              <a:rPr dirty="0"/>
              <a:t> </a:t>
            </a:r>
            <a:r>
              <a:rPr dirty="0" err="1"/>
              <a:t>Greedy를</a:t>
            </a:r>
            <a:r>
              <a:rPr dirty="0"/>
              <a:t> </a:t>
            </a:r>
            <a:r>
              <a:rPr dirty="0" err="1"/>
              <a:t>넘지</a:t>
            </a:r>
            <a:r>
              <a:rPr dirty="0"/>
              <a:t> </a:t>
            </a:r>
            <a:r>
              <a:rPr dirty="0" err="1"/>
              <a:t>못함</a:t>
            </a:r>
            <a:endParaRPr lang="en-US" dirty="0"/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endParaRPr lang="en-US" altLang="ko-KR" dirty="0"/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lang="ko-KR" altLang="en-US" dirty="0"/>
              <a:t>하지만  </a:t>
            </a:r>
            <a:r>
              <a:rPr lang="en-US" altLang="ko-KR" dirty="0"/>
              <a:t>Local DQN</a:t>
            </a:r>
            <a:r>
              <a:rPr lang="ko-KR" altLang="en-US" dirty="0"/>
              <a:t>은 실패 최소화보다 이동거리 효율성에서 의미 있는 신호를 보였다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55931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12.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: </a:t>
            </a:r>
            <a:r>
              <a:rPr dirty="0" err="1"/>
              <a:t>보상·대여</a:t>
            </a:r>
            <a:r>
              <a:rPr dirty="0"/>
              <a:t> </a:t>
            </a:r>
            <a:r>
              <a:rPr dirty="0" err="1"/>
              <a:t>실패·만족률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3657600" cy="2103120"/>
          </a:xfrm>
          <a:prstGeom prst="rect">
            <a:avLst/>
          </a:prstGeom>
        </p:spPr>
      </p:pic>
      <p:pic>
        <p:nvPicPr>
          <p:cNvPr id="5" name="Picture 4" descr="lost_rentals_comparison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143000"/>
            <a:ext cx="3657600" cy="2103120"/>
          </a:xfrm>
          <a:prstGeom prst="rect">
            <a:avLst/>
          </a:prstGeom>
        </p:spPr>
      </p:pic>
      <p:pic>
        <p:nvPicPr>
          <p:cNvPr id="6" name="Picture 5" descr="rental_satisfaction_comparison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143000"/>
            <a:ext cx="365760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886200"/>
            <a:ext cx="10789920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t>• Reward와 lost rentals 기준으로 Greedy District + Greedy Local이 가장 강한 baseline</a:t>
            </a:r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t>• DQN 계열 정책은 No Rebalancing보다 개선되지만 Greedy를 안정적으로 넘지는 못함</a:t>
            </a:r>
          </a:p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t>• Satisfaction 차이는 77%대에서 작아 보이지만, 전체 수요 규모가 커 lost rentals 차이는 수천 건 단위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54890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13.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: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비용과</a:t>
            </a:r>
            <a:r>
              <a:rPr dirty="0"/>
              <a:t> </a:t>
            </a:r>
            <a:r>
              <a:rPr dirty="0" err="1"/>
              <a:t>효율성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position_distance_comparis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4892040" cy="2788920"/>
          </a:xfrm>
          <a:prstGeom prst="rect">
            <a:avLst/>
          </a:prstGeom>
        </p:spPr>
      </p:pic>
      <p:pic>
        <p:nvPicPr>
          <p:cNvPr id="5" name="Picture 4" descr="distance_per_saved_r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97280"/>
            <a:ext cx="4892040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4297680"/>
            <a:ext cx="10515600" cy="777240"/>
          </a:xfrm>
          <a:prstGeom prst="roundRect">
            <a:avLst/>
          </a:prstGeom>
          <a:solidFill>
            <a:srgbClr val="FFF8E8"/>
          </a:solidFill>
          <a:ln>
            <a:solidFill>
              <a:srgbClr val="CF7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Greedy District + Local </a:t>
            </a:r>
            <a:r>
              <a:rPr dirty="0" err="1"/>
              <a:t>DQN은</a:t>
            </a:r>
            <a:r>
              <a:rPr dirty="0"/>
              <a:t> Greedy </a:t>
            </a:r>
            <a:r>
              <a:rPr dirty="0" err="1"/>
              <a:t>Local보다</a:t>
            </a:r>
            <a:r>
              <a:rPr dirty="0"/>
              <a:t> lost </a:t>
            </a:r>
            <a:r>
              <a:rPr dirty="0" err="1"/>
              <a:t>rentals가</a:t>
            </a:r>
            <a:r>
              <a:rPr dirty="0"/>
              <a:t> 220.5건 </a:t>
            </a:r>
            <a:r>
              <a:rPr dirty="0" err="1"/>
              <a:t>많지만</a:t>
            </a:r>
            <a:r>
              <a:rPr dirty="0"/>
              <a:t>,</a:t>
            </a:r>
            <a:endParaRPr lang="en-US" dirty="0"/>
          </a:p>
          <a:p>
            <a:pPr algn="ctr">
              <a:defRPr sz="14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거리는</a:t>
            </a:r>
            <a:r>
              <a:rPr dirty="0"/>
              <a:t> 5,216.8km </a:t>
            </a:r>
            <a:r>
              <a:rPr dirty="0" err="1"/>
              <a:t>낮고</a:t>
            </a:r>
            <a:r>
              <a:rPr dirty="0"/>
              <a:t> </a:t>
            </a:r>
            <a:r>
              <a:rPr dirty="0" err="1"/>
              <a:t>distance_per_saved_rental이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좋다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332720" cy="2816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35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따라서</a:t>
            </a:r>
            <a:r>
              <a:rPr dirty="0"/>
              <a:t> Local </a:t>
            </a:r>
            <a:r>
              <a:rPr dirty="0" err="1"/>
              <a:t>DQN은</a:t>
            </a:r>
            <a:r>
              <a:rPr dirty="0"/>
              <a:t> ‘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실패’보다</a:t>
            </a:r>
            <a:r>
              <a:rPr dirty="0"/>
              <a:t> ‘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’ </a:t>
            </a:r>
            <a:r>
              <a:rPr dirty="0" err="1"/>
              <a:t>관점에서</a:t>
            </a:r>
            <a:r>
              <a:rPr dirty="0"/>
              <a:t> </a:t>
            </a:r>
            <a:r>
              <a:rPr lang="ko-KR" altLang="en-US" dirty="0"/>
              <a:t>좋다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14. 학습 곡선 및 신뢰도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qn_training_rewar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03504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234440"/>
            <a:ext cx="4709160" cy="142090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32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관찰</a:t>
            </a:r>
            <a:r>
              <a:rPr dirty="0"/>
              <a:t>: episode </a:t>
            </a:r>
            <a:r>
              <a:rPr dirty="0" err="1"/>
              <a:t>reward가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안정적으로</a:t>
            </a:r>
            <a:r>
              <a:rPr dirty="0"/>
              <a:t> </a:t>
            </a:r>
            <a:r>
              <a:rPr dirty="0" err="1"/>
              <a:t>개선되는</a:t>
            </a:r>
            <a:r>
              <a:rPr dirty="0"/>
              <a:t> </a:t>
            </a:r>
            <a:r>
              <a:rPr dirty="0" err="1"/>
              <a:t>패턴은</a:t>
            </a:r>
            <a:r>
              <a:rPr dirty="0"/>
              <a:t> </a:t>
            </a:r>
            <a:r>
              <a:rPr dirty="0" err="1"/>
              <a:t>약함</a:t>
            </a:r>
            <a:endParaRPr dirty="0"/>
          </a:p>
          <a:p>
            <a:pPr>
              <a:spcAft>
                <a:spcPts val="475"/>
              </a:spcAft>
              <a:defRPr sz="132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해석</a:t>
            </a:r>
            <a:r>
              <a:rPr dirty="0"/>
              <a:t>: </a:t>
            </a:r>
            <a:r>
              <a:rPr dirty="0" err="1"/>
              <a:t>현재</a:t>
            </a:r>
            <a:r>
              <a:rPr dirty="0"/>
              <a:t> state/action/reward </a:t>
            </a:r>
            <a:r>
              <a:rPr dirty="0" err="1"/>
              <a:t>구조에서</a:t>
            </a:r>
            <a:r>
              <a:rPr dirty="0"/>
              <a:t> Global </a:t>
            </a:r>
            <a:r>
              <a:rPr dirty="0" err="1"/>
              <a:t>DQN이</a:t>
            </a:r>
            <a:r>
              <a:rPr dirty="0"/>
              <a:t> </a:t>
            </a:r>
            <a:r>
              <a:rPr dirty="0" err="1"/>
              <a:t>greedy보다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구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정책을</a:t>
            </a:r>
            <a:r>
              <a:rPr dirty="0"/>
              <a:t> </a:t>
            </a:r>
            <a:r>
              <a:rPr dirty="0" err="1"/>
              <a:t>안정적으로</a:t>
            </a:r>
            <a:r>
              <a:rPr dirty="0"/>
              <a:t> </a:t>
            </a:r>
            <a:r>
              <a:rPr dirty="0" err="1"/>
              <a:t>찾지</a:t>
            </a:r>
            <a:r>
              <a:rPr dirty="0"/>
              <a:t> </a:t>
            </a:r>
            <a:r>
              <a:rPr dirty="0" err="1"/>
              <a:t>못했을</a:t>
            </a:r>
            <a:r>
              <a:rPr dirty="0"/>
              <a:t> </a:t>
            </a:r>
            <a:r>
              <a:rPr dirty="0" err="1"/>
              <a:t>가능성</a:t>
            </a:r>
            <a:endParaRPr dirty="0"/>
          </a:p>
          <a:p>
            <a:pPr>
              <a:spcAft>
                <a:spcPts val="475"/>
              </a:spcAft>
              <a:defRPr sz="132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신뢰도</a:t>
            </a:r>
            <a:r>
              <a:rPr dirty="0"/>
              <a:t> </a:t>
            </a:r>
            <a:r>
              <a:rPr dirty="0" err="1"/>
              <a:t>한계</a:t>
            </a:r>
            <a:r>
              <a:rPr dirty="0"/>
              <a:t>: seed=42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실험이며</a:t>
            </a:r>
            <a:r>
              <a:rPr dirty="0"/>
              <a:t> confidence </a:t>
            </a:r>
            <a:r>
              <a:rPr dirty="0" err="1"/>
              <a:t>interval은</a:t>
            </a:r>
            <a:r>
              <a:rPr dirty="0"/>
              <a:t> </a:t>
            </a:r>
            <a:r>
              <a:rPr dirty="0" err="1"/>
              <a:t>미수행</a:t>
            </a:r>
            <a:r>
              <a:rPr lang="ko-KR" altLang="en-US" dirty="0"/>
              <a:t>하였다</a:t>
            </a:r>
            <a:r>
              <a:rPr lang="en-US" altLang="ko-KR" dirty="0"/>
              <a:t>. 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35325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15. </a:t>
            </a:r>
            <a:r>
              <a:rPr lang="ko-KR" altLang="en-US" dirty="0"/>
              <a:t>결과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237744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CF7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CF782E"/>
                </a:solidFill>
                <a:latin typeface="Apple SD Gothic Neo"/>
              </a:defRPr>
            </a:pPr>
            <a:r>
              <a:t>+220.5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lost rentals vs Greedy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34440"/>
            <a:ext cx="256032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8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88060"/>
                </a:solidFill>
                <a:latin typeface="Apple SD Gothic Neo"/>
              </a:defRPr>
            </a:pPr>
            <a:r>
              <a:t>-5,216.8 km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distance vs Greedy 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219456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3A74A0"/>
                </a:solidFill>
                <a:latin typeface="Apple SD Gothic Neo"/>
              </a:defRPr>
            </a:pPr>
            <a:r>
              <a:t>8.90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km per saved rental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234440"/>
            <a:ext cx="2560320" cy="713232"/>
          </a:xfrm>
          <a:prstGeom prst="roundRect">
            <a:avLst/>
          </a:prstGeom>
          <a:solidFill>
            <a:srgbClr val="F7FAFD"/>
          </a:solidFill>
          <a:ln>
            <a:solidFill>
              <a:srgbClr val="B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36576" rIns="36576" bIns="36576" rtlCol="0" anchor="ctr"/>
          <a:lstStyle/>
          <a:p>
            <a:pPr algn="ctr">
              <a:defRPr sz="1800" b="1">
                <a:solidFill>
                  <a:srgbClr val="B24A4A"/>
                </a:solidFill>
                <a:latin typeface="Apple SD Gothic Neo"/>
              </a:defRPr>
            </a:pPr>
            <a:r>
              <a:t>+2,867 lost</a:t>
            </a:r>
          </a:p>
          <a:p>
            <a:pPr algn="ctr">
              <a:defRPr sz="850">
                <a:solidFill>
                  <a:srgbClr val="5A5A5A"/>
                </a:solidFill>
                <a:latin typeface="Apple SD Gothic Neo"/>
              </a:defRPr>
            </a:pPr>
            <a:r>
              <a:t>Global DQN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744200" cy="112800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Greedy가</a:t>
            </a:r>
            <a:r>
              <a:rPr dirty="0"/>
              <a:t> 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이유</a:t>
            </a:r>
            <a:r>
              <a:rPr dirty="0"/>
              <a:t>: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시점의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 </a:t>
            </a:r>
            <a:r>
              <a:rPr dirty="0" err="1"/>
              <a:t>자치구와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 </a:t>
            </a:r>
            <a:r>
              <a:rPr dirty="0" err="1"/>
              <a:t>대여소를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선택하는</a:t>
            </a:r>
            <a:r>
              <a:rPr dirty="0"/>
              <a:t> </a:t>
            </a:r>
            <a:r>
              <a:rPr dirty="0" err="1"/>
              <a:t>규칙이</a:t>
            </a:r>
            <a:r>
              <a:rPr dirty="0"/>
              <a:t> </a:t>
            </a:r>
            <a:r>
              <a:rPr dirty="0" err="1"/>
              <a:t>환경에서</a:t>
            </a:r>
            <a:r>
              <a:rPr dirty="0"/>
              <a:t> 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baseline으로</a:t>
            </a:r>
            <a:r>
              <a:rPr dirty="0"/>
              <a:t> </a:t>
            </a:r>
            <a:r>
              <a:rPr dirty="0" err="1"/>
              <a:t>작동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Global </a:t>
            </a:r>
            <a:r>
              <a:rPr dirty="0" err="1"/>
              <a:t>DQN의</a:t>
            </a:r>
            <a:r>
              <a:rPr dirty="0"/>
              <a:t> </a:t>
            </a:r>
            <a:r>
              <a:rPr dirty="0" err="1"/>
              <a:t>한계</a:t>
            </a:r>
            <a:r>
              <a:rPr dirty="0"/>
              <a:t>: </a:t>
            </a:r>
            <a:r>
              <a:rPr dirty="0" err="1"/>
              <a:t>자치구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문제에서</a:t>
            </a:r>
            <a:r>
              <a:rPr dirty="0"/>
              <a:t> </a:t>
            </a:r>
            <a:r>
              <a:rPr dirty="0" err="1"/>
              <a:t>미래</a:t>
            </a:r>
            <a:r>
              <a:rPr dirty="0"/>
              <a:t> </a:t>
            </a:r>
            <a:r>
              <a:rPr dirty="0" err="1"/>
              <a:t>수요·출퇴근·날씨</a:t>
            </a:r>
            <a:r>
              <a:rPr dirty="0"/>
              <a:t> 등 </a:t>
            </a:r>
            <a:r>
              <a:rPr dirty="0" err="1"/>
              <a:t>feature가</a:t>
            </a:r>
            <a:r>
              <a:rPr dirty="0"/>
              <a:t> </a:t>
            </a:r>
            <a:r>
              <a:rPr dirty="0" err="1"/>
              <a:t>부족했을</a:t>
            </a:r>
            <a:r>
              <a:rPr dirty="0"/>
              <a:t> </a:t>
            </a:r>
            <a:r>
              <a:rPr dirty="0" err="1"/>
              <a:t>가능성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Local </a:t>
            </a:r>
            <a:r>
              <a:rPr dirty="0" err="1"/>
              <a:t>DQN의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: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최소화에서는</a:t>
            </a:r>
            <a:r>
              <a:rPr dirty="0"/>
              <a:t> </a:t>
            </a:r>
            <a:r>
              <a:rPr dirty="0" err="1"/>
              <a:t>Greedy를</a:t>
            </a:r>
            <a:r>
              <a:rPr dirty="0"/>
              <a:t> </a:t>
            </a:r>
            <a:r>
              <a:rPr dirty="0" err="1"/>
              <a:t>넘지</a:t>
            </a:r>
            <a:r>
              <a:rPr dirty="0"/>
              <a:t> </a:t>
            </a:r>
            <a:r>
              <a:rPr dirty="0" err="1"/>
              <a:t>못했지만</a:t>
            </a:r>
            <a:r>
              <a:rPr dirty="0"/>
              <a:t>, </a:t>
            </a:r>
            <a:r>
              <a:rPr dirty="0" err="1"/>
              <a:t>이동거리</a:t>
            </a:r>
            <a:r>
              <a:rPr dirty="0"/>
              <a:t> </a:t>
            </a:r>
            <a:r>
              <a:rPr dirty="0" err="1"/>
              <a:t>효율성에서는</a:t>
            </a:r>
            <a:r>
              <a:rPr dirty="0"/>
              <a:t> </a:t>
            </a:r>
            <a:r>
              <a:rPr dirty="0" err="1"/>
              <a:t>긍정적</a:t>
            </a:r>
            <a:r>
              <a:rPr dirty="0"/>
              <a:t> </a:t>
            </a:r>
            <a:r>
              <a:rPr dirty="0" err="1"/>
              <a:t>신호</a:t>
            </a:r>
            <a:endParaRPr dirty="0"/>
          </a:p>
          <a:p>
            <a:pPr>
              <a:spcAft>
                <a:spcPts val="475"/>
              </a:spcAft>
              <a:defRPr sz="14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결론</a:t>
            </a:r>
            <a:r>
              <a:rPr dirty="0"/>
              <a:t>: </a:t>
            </a:r>
            <a:r>
              <a:rPr dirty="0" err="1"/>
              <a:t>DQN의</a:t>
            </a:r>
            <a:r>
              <a:rPr dirty="0"/>
              <a:t> </a:t>
            </a:r>
            <a:r>
              <a:rPr dirty="0" err="1"/>
              <a:t>절대적</a:t>
            </a:r>
            <a:r>
              <a:rPr dirty="0"/>
              <a:t> </a:t>
            </a:r>
            <a:r>
              <a:rPr dirty="0" err="1"/>
              <a:t>우월성이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계층형</a:t>
            </a:r>
            <a:r>
              <a:rPr dirty="0"/>
              <a:t> </a:t>
            </a:r>
            <a:r>
              <a:rPr dirty="0" err="1"/>
              <a:t>설계와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–</a:t>
            </a:r>
            <a:r>
              <a:rPr dirty="0" err="1"/>
              <a:t>성능</a:t>
            </a:r>
            <a:r>
              <a:rPr dirty="0"/>
              <a:t> trade-off </a:t>
            </a:r>
            <a:r>
              <a:rPr dirty="0" err="1"/>
              <a:t>분석이</a:t>
            </a:r>
            <a:r>
              <a:rPr dirty="0"/>
              <a:t> </a:t>
            </a:r>
            <a:r>
              <a:rPr dirty="0" err="1"/>
              <a:t>핵심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16. 한계 및 보완·개선사항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57800" cy="438912"/>
          </a:xfrm>
          <a:prstGeom prst="roundRect">
            <a:avLst/>
          </a:prstGeom>
          <a:solidFill>
            <a:srgbClr val="FFF4F4"/>
          </a:solidFill>
          <a:ln>
            <a:solidFill>
              <a:srgbClr val="B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F304A"/>
                </a:solidFill>
                <a:latin typeface="Apple SD Gothic Neo"/>
              </a:defRPr>
            </a:pPr>
            <a:r>
              <a:t>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074920" cy="2560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t>• 실제 unmet demand가 없어 관측 OD를 demand proxy로 사용</a:t>
            </a:r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t>• lost rentals는 실제 운영 로그가 아니라 counterfactual simulation metric</a:t>
            </a:r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t>• 초기 inventory는 capacity의 50%로 가정</a:t>
            </a:r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t>• 재배치 거리는 실제 차량 routing이 아니라 bike-km 비용 proxy</a:t>
            </a:r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t>• 단일 seed 실험이며 confidence interval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257800" cy="438912"/>
          </a:xfrm>
          <a:prstGeom prst="roundRect">
            <a:avLst/>
          </a:prstGeom>
          <a:solidFill>
            <a:srgbClr val="EFF7F0"/>
          </a:solidFill>
          <a:ln>
            <a:solidFill>
              <a:srgbClr val="38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400" b="1">
                <a:solidFill>
                  <a:srgbClr val="1F304A"/>
                </a:solidFill>
                <a:latin typeface="Apple SD Gothic Neo"/>
              </a:defRPr>
            </a:pPr>
            <a:r>
              <a:t>개선사항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5074920" cy="1315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multi-seed </a:t>
            </a:r>
            <a:r>
              <a:rPr dirty="0" err="1"/>
              <a:t>실험과</a:t>
            </a:r>
            <a:r>
              <a:rPr dirty="0"/>
              <a:t> confidence interval </a:t>
            </a:r>
            <a:r>
              <a:rPr dirty="0" err="1"/>
              <a:t>계산</a:t>
            </a:r>
            <a:endParaRPr dirty="0"/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reward weight ablation 및 sensitivity </a:t>
            </a:r>
            <a:r>
              <a:rPr dirty="0" err="1"/>
              <a:t>분석</a:t>
            </a:r>
            <a:endParaRPr dirty="0"/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날씨·기온·강수량·공휴일·출퇴근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feature </a:t>
            </a:r>
            <a:r>
              <a:rPr dirty="0" err="1"/>
              <a:t>추가</a:t>
            </a:r>
            <a:endParaRPr dirty="0"/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Double DQN, Dueling DQN, PPO 등 </a:t>
            </a:r>
            <a:r>
              <a:rPr dirty="0" err="1"/>
              <a:t>알고리즘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  <a:p>
            <a:pPr>
              <a:spcAft>
                <a:spcPts val="475"/>
              </a:spcAft>
              <a:defRPr sz="128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multi-action Global policy 및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 routing </a:t>
            </a:r>
            <a:r>
              <a:rPr dirty="0" err="1"/>
              <a:t>결합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  <a:latin typeface="Apple SD Gothic Neo"/>
              </a:defRPr>
            </a:pPr>
            <a:r>
              <a:t>서울시 따릉이 계층형 DQN 재배치 실험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04A"/>
                </a:solidFill>
                <a:latin typeface="Apple SD Gothic Neo"/>
              </a:defRPr>
            </a:pPr>
            <a:r>
              <a:t>17. 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05840"/>
            <a:ext cx="11338560" cy="18288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744200" cy="242835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</a:t>
            </a:r>
            <a:r>
              <a:rPr dirty="0" err="1"/>
              <a:t>서울시</a:t>
            </a:r>
            <a:r>
              <a:rPr dirty="0"/>
              <a:t> </a:t>
            </a:r>
            <a:r>
              <a:rPr dirty="0" err="1"/>
              <a:t>따릉이</a:t>
            </a:r>
            <a:r>
              <a:rPr dirty="0"/>
              <a:t>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강화학습</a:t>
            </a:r>
            <a:r>
              <a:rPr dirty="0"/>
              <a:t> </a:t>
            </a:r>
            <a:r>
              <a:rPr dirty="0" err="1"/>
              <a:t>환경으로</a:t>
            </a:r>
            <a:r>
              <a:rPr dirty="0"/>
              <a:t> </a:t>
            </a:r>
            <a:r>
              <a:rPr dirty="0" err="1"/>
              <a:t>모델링했다</a:t>
            </a:r>
            <a:r>
              <a:rPr dirty="0"/>
              <a:t>.</a:t>
            </a:r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총 </a:t>
            </a:r>
            <a:r>
              <a:rPr dirty="0" err="1"/>
              <a:t>reward와</a:t>
            </a:r>
            <a:r>
              <a:rPr dirty="0"/>
              <a:t> </a:t>
            </a:r>
            <a:r>
              <a:rPr dirty="0" err="1"/>
              <a:t>대여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수 </a:t>
            </a:r>
            <a:r>
              <a:rPr dirty="0" err="1"/>
              <a:t>기준으로는</a:t>
            </a:r>
            <a:r>
              <a:rPr dirty="0"/>
              <a:t> Greedy District + Greedy </a:t>
            </a:r>
            <a:r>
              <a:rPr dirty="0" err="1"/>
              <a:t>Local이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우수했다</a:t>
            </a:r>
            <a:r>
              <a:rPr dirty="0"/>
              <a:t>.</a:t>
            </a:r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Global </a:t>
            </a:r>
            <a:r>
              <a:rPr dirty="0" err="1"/>
              <a:t>DQN은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표현과</a:t>
            </a:r>
            <a:r>
              <a:rPr dirty="0"/>
              <a:t> </a:t>
            </a:r>
            <a:r>
              <a:rPr dirty="0" err="1"/>
              <a:t>보상</a:t>
            </a:r>
            <a:r>
              <a:rPr dirty="0"/>
              <a:t> </a:t>
            </a:r>
            <a:r>
              <a:rPr dirty="0" err="1"/>
              <a:t>구조에서</a:t>
            </a:r>
            <a:r>
              <a:rPr dirty="0"/>
              <a:t> Greedy </a:t>
            </a:r>
            <a:r>
              <a:rPr dirty="0" err="1"/>
              <a:t>District보다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보였다</a:t>
            </a:r>
            <a:r>
              <a:rPr dirty="0"/>
              <a:t>.</a:t>
            </a:r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dirty="0"/>
              <a:t>• Local </a:t>
            </a:r>
            <a:r>
              <a:rPr dirty="0" err="1"/>
              <a:t>DQN은</a:t>
            </a:r>
            <a:r>
              <a:rPr dirty="0"/>
              <a:t> 더 </a:t>
            </a:r>
            <a:r>
              <a:rPr dirty="0" err="1"/>
              <a:t>적은</a:t>
            </a:r>
            <a:r>
              <a:rPr dirty="0"/>
              <a:t> </a:t>
            </a:r>
            <a:r>
              <a:rPr dirty="0" err="1"/>
              <a:t>재배치</a:t>
            </a:r>
            <a:r>
              <a:rPr dirty="0"/>
              <a:t> </a:t>
            </a:r>
            <a:r>
              <a:rPr dirty="0" err="1"/>
              <a:t>비용으로</a:t>
            </a:r>
            <a:r>
              <a:rPr dirty="0"/>
              <a:t> </a:t>
            </a:r>
            <a:r>
              <a:rPr dirty="0" err="1"/>
              <a:t>유사한</a:t>
            </a:r>
            <a:r>
              <a:rPr dirty="0"/>
              <a:t> </a:t>
            </a:r>
            <a:r>
              <a:rPr dirty="0" err="1"/>
              <a:t>만족률을</a:t>
            </a:r>
            <a:r>
              <a:rPr dirty="0"/>
              <a:t> </a:t>
            </a:r>
            <a:r>
              <a:rPr dirty="0" err="1"/>
              <a:t>보여</a:t>
            </a:r>
            <a:r>
              <a:rPr dirty="0"/>
              <a:t> </a:t>
            </a:r>
            <a:r>
              <a:rPr dirty="0" err="1"/>
              <a:t>이동거리</a:t>
            </a:r>
            <a:r>
              <a:rPr dirty="0"/>
              <a:t> </a:t>
            </a:r>
            <a:r>
              <a:rPr dirty="0" err="1"/>
              <a:t>효율성</a:t>
            </a:r>
            <a:r>
              <a:rPr dirty="0"/>
              <a:t> </a:t>
            </a:r>
            <a:r>
              <a:rPr dirty="0" err="1"/>
              <a:t>측면의</a:t>
            </a:r>
            <a:r>
              <a:rPr dirty="0"/>
              <a:t> </a:t>
            </a:r>
            <a:r>
              <a:rPr dirty="0" err="1"/>
              <a:t>가능성을</a:t>
            </a:r>
            <a:r>
              <a:rPr dirty="0"/>
              <a:t> </a:t>
            </a:r>
            <a:r>
              <a:rPr dirty="0" err="1"/>
              <a:t>보였다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endParaRPr lang="en-US" dirty="0"/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r>
              <a:rPr lang="ko-KR" altLang="en-US" dirty="0"/>
              <a:t>즉</a:t>
            </a:r>
            <a:r>
              <a:rPr lang="en-US" altLang="ko-KR" dirty="0"/>
              <a:t>, Greedy </a:t>
            </a:r>
            <a:r>
              <a:rPr lang="ko-KR" altLang="en-US" dirty="0"/>
              <a:t>이 </a:t>
            </a:r>
            <a:r>
              <a:rPr lang="en-US" altLang="ko-KR" dirty="0"/>
              <a:t>Greedy District + Greedy Local  </a:t>
            </a:r>
            <a:r>
              <a:rPr lang="ko-KR" altLang="en-US" dirty="0"/>
              <a:t>전체 </a:t>
            </a:r>
            <a:r>
              <a:rPr lang="en-US" altLang="ko-KR" dirty="0"/>
              <a:t>reward</a:t>
            </a:r>
            <a:r>
              <a:rPr lang="ko-KR" altLang="en-US" dirty="0"/>
              <a:t>와 대여 </a:t>
            </a:r>
            <a:r>
              <a:rPr lang="ko-KR" altLang="en-US" dirty="0" err="1"/>
              <a:t>실패수에는</a:t>
            </a:r>
            <a:r>
              <a:rPr lang="ko-KR" altLang="en-US" dirty="0"/>
              <a:t> 가장 우수하였으나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Greedy District + Local DQN </a:t>
            </a:r>
            <a:r>
              <a:rPr lang="ko-KR" altLang="en-US" dirty="0"/>
              <a:t>의 경우 더 적은 이동거리 효율성 측면을 보여줬다</a:t>
            </a:r>
            <a:r>
              <a:rPr lang="en-US" altLang="ko-KR" dirty="0"/>
              <a:t>.</a:t>
            </a:r>
            <a:endParaRPr dirty="0"/>
          </a:p>
          <a:p>
            <a:pPr>
              <a:spcAft>
                <a:spcPts val="475"/>
              </a:spcAft>
              <a:defRPr sz="1600">
                <a:solidFill>
                  <a:srgbClr val="141414"/>
                </a:solidFill>
                <a:latin typeface="Apple SD Gothic Neo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68680" y="3977639"/>
            <a:ext cx="10424160" cy="822960"/>
          </a:xfrm>
          <a:prstGeom prst="roundRect">
            <a:avLst/>
          </a:prstGeom>
          <a:solidFill>
            <a:srgbClr val="E2EDF7"/>
          </a:solidFill>
          <a:ln>
            <a:solidFill>
              <a:srgbClr val="3A7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700" b="1">
                <a:solidFill>
                  <a:srgbClr val="1F304A"/>
                </a:solidFill>
                <a:latin typeface="Apple SD Gothic Neo"/>
              </a:defRPr>
            </a:pPr>
            <a:r>
              <a:rPr dirty="0"/>
              <a:t>Greedy wins: total reward / lost rentals     ·     Local DQN signal: distance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  <a:latin typeface="Apple SD Gothic Neo"/>
              </a:defRPr>
            </a:pPr>
            <a:r>
              <a:t>서울시 따릉이 계층형 DQN 재배치 실험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1876</Words>
  <Application>Microsoft Office PowerPoint</Application>
  <PresentationFormat>와이드스크린</PresentationFormat>
  <Paragraphs>309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young yun</dc:creator>
  <cp:keywords/>
  <dc:description>generated using python-pptx</dc:description>
  <cp:lastModifiedBy>young yun</cp:lastModifiedBy>
  <cp:revision>8</cp:revision>
  <dcterms:created xsi:type="dcterms:W3CDTF">2013-01-27T09:14:16Z</dcterms:created>
  <dcterms:modified xsi:type="dcterms:W3CDTF">2026-06-12T07:10:46Z</dcterms:modified>
  <cp:category/>
</cp:coreProperties>
</file>